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949440" y="-1280160"/>
            <a:ext cx="3657600" cy="3657600"/>
          </a:xfrm>
          <a:prstGeom prst="ellipse">
            <a:avLst/>
          </a:prstGeom>
          <a:solidFill>
            <a:srgbClr val="028090">
              <a:alpha val="18039"/>
            </a:srgbClr>
          </a:solidFill>
          <a:ln cap="flat" cmpd="sng" w="12700">
            <a:solidFill>
              <a:srgbClr val="028090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772400" y="-182880"/>
            <a:ext cx="2011680" cy="2011680"/>
          </a:xfrm>
          <a:prstGeom prst="ellipse">
            <a:avLst/>
          </a:prstGeom>
          <a:solidFill>
            <a:srgbClr val="02C39A">
              <a:alpha val="27843"/>
            </a:srgbClr>
          </a:solidFill>
          <a:ln cap="flat" cmpd="sng" w="12700">
            <a:solidFill>
              <a:srgbClr val="02C39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3657600"/>
            <a:ext cx="2286000" cy="22860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5156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457200" y="1737360"/>
            <a:ext cx="7315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TransactScan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7889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D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7EC8D3"/>
                </a:solidFill>
                <a:latin typeface="Calibri"/>
                <a:ea typeface="Calibri"/>
                <a:cs typeface="Calibri"/>
                <a:sym typeface="Calibri"/>
              </a:rPr>
              <a:t>Transaction Risk Detection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364992"/>
            <a:ext cx="274320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A8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4A8B0"/>
                </a:solidFill>
                <a:latin typeface="Calibri"/>
                <a:ea typeface="Calibri"/>
                <a:cs typeface="Calibri"/>
                <a:sym typeface="Calibri"/>
              </a:rPr>
              <a:t>Compliance Teams  ·  Accountants  ·  Fraud Analysts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83680" y="47091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65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6570"/>
                </a:solidFill>
                <a:latin typeface="Calibri"/>
                <a:ea typeface="Calibri"/>
                <a:cs typeface="Calibri"/>
                <a:sym typeface="Calibri"/>
              </a:rPr>
              <a:t>5-Minute Pitch</a:t>
            </a:r>
            <a:r>
              <a:rPr b="0" i="0" lang="en-US" sz="1000" u="none" cap="none" strike="noStrike">
                <a:solidFill>
                  <a:srgbClr val="3A657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000" u="none" cap="none" strike="noStrike">
                <a:solidFill>
                  <a:srgbClr val="3A6570"/>
                </a:solidFill>
                <a:latin typeface="Calibri"/>
                <a:ea typeface="Calibri"/>
                <a:cs typeface="Calibri"/>
                <a:sym typeface="Calibri"/>
              </a:rPr>
              <a:t>| 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64592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1234440"/>
            <a:ext cx="2651760" cy="3474720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74320" y="1234440"/>
            <a:ext cx="265176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438912" y="2139696"/>
            <a:ext cx="23225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Manual Review is Slow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8912" y="2761488"/>
            <a:ext cx="232257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Compliance teams spend hours sifting spreadsheets — errors and missed flags are inevitable.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46120" y="1234440"/>
            <a:ext cx="2651760" cy="3474720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46120" y="1234440"/>
            <a:ext cx="265176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3410712" y="2139696"/>
            <a:ext cx="23225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Global Risk is Complex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410712" y="2761488"/>
            <a:ext cx="232257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Transactions span dozens of jurisdictions with different sanctions lists and reporting thresholds.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1234440"/>
            <a:ext cx="2651760" cy="3474720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217920" y="1234440"/>
            <a:ext cx="265176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1463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6382512" y="2139696"/>
            <a:ext cx="23225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Penalties are Severe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82512" y="2761488"/>
            <a:ext cx="232257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Missed AML flags can trigger 7-figure regulatory fines, licence revocations, and lasting reputational damage.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01168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005840" y="164592"/>
            <a:ext cx="7772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56032" y="1188720"/>
            <a:ext cx="21488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47472" y="21488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Upload CSV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2743200"/>
            <a:ext cx="19385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Drag &amp; drop your transaction file — up to 50 MB, no special formatting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404872" y="2194560"/>
            <a:ext cx="201168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350008" y="1188720"/>
            <a:ext cx="21488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099816" y="1371600"/>
            <a:ext cx="640080" cy="6400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099816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441448" y="21488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Auto-Parse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459736" y="2743200"/>
            <a:ext cx="19385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Dates, amounts, names &amp; countries are extracted and normalised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498848" y="2194560"/>
            <a:ext cx="201168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443984" y="1188720"/>
            <a:ext cx="21488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193792" y="1371600"/>
            <a:ext cx="640080" cy="6400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193792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35424" y="21488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Risk Scoring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53712" y="2743200"/>
            <a:ext cx="19385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14 detection rules assign a 0-100 risk score to every transaction in seconds.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592824" y="2194560"/>
            <a:ext cx="201168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537960" y="1188720"/>
            <a:ext cx="21488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287768" y="1371600"/>
            <a:ext cx="640080" cy="6400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287768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629400" y="21488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Instant Triage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647688" y="2743200"/>
            <a:ext cx="19385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Results grouped: High Risk / Risky / Low Risk / Safe for immediate 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Detection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D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EC8D3"/>
                </a:solidFill>
                <a:latin typeface="Calibri"/>
                <a:ea typeface="Calibri"/>
                <a:cs typeface="Calibri"/>
                <a:sym typeface="Calibri"/>
              </a:rPr>
              <a:t>14 rules fire in parallel — each transaction scored 0-100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65760" y="1508760"/>
            <a:ext cx="256032" cy="256032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713232" y="14630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Duplicate transaction 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65760" y="1984248"/>
            <a:ext cx="256032" cy="256032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13232" y="193852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Very large amounts (&gt;= $50k)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2459736"/>
            <a:ext cx="256032" cy="256032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13232" y="241401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High-risk country (FATF list)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2935224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13232" y="288950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Structuring near thresholds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65760" y="3410712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13232" y="33649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Large amounts (&gt;= $10k)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3886200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13232" y="384048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High-frequency velocity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65760" y="4361688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13232" y="431596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Off-hours transactions (12-5am)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54880" y="1508760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102352" y="14630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Elevated-risk country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754880" y="1984248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102352" y="193852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Suspicious name keywords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54880" y="2459736"/>
            <a:ext cx="256032" cy="256032"/>
          </a:xfrm>
          <a:prstGeom prst="ellipse">
            <a:avLst/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102352" y="241401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Round amount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754880" y="2935224"/>
            <a:ext cx="256032" cy="256032"/>
          </a:xfrm>
          <a:prstGeom prst="ellipse">
            <a:avLst/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102352" y="288950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Missing or invalid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754880" y="3410712"/>
            <a:ext cx="256032" cy="256032"/>
          </a:xfrm>
          <a:prstGeom prst="ellipse">
            <a:avLst/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102352" y="33649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Non-positive amount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54880" y="3886200"/>
            <a:ext cx="256032" cy="256032"/>
          </a:xfrm>
          <a:prstGeom prst="ellipse">
            <a:avLst/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102352" y="384048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Missing counterparty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754880" y="4361688"/>
            <a:ext cx="256032" cy="25603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102352" y="431596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0E8EC"/>
                </a:solidFill>
                <a:latin typeface="Calibri"/>
                <a:ea typeface="Calibri"/>
                <a:cs typeface="Calibri"/>
                <a:sym typeface="Calibri"/>
              </a:rPr>
              <a:t>Amount parse failure flag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5760" y="4572000"/>
            <a:ext cx="1920240" cy="3474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65760" y="45720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76-100  HIGH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514600" y="4572000"/>
            <a:ext cx="1920240" cy="3474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514600" y="45720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51-75   RISKY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663440" y="4572000"/>
            <a:ext cx="1920240" cy="347472"/>
          </a:xfrm>
          <a:prstGeom prst="rect">
            <a:avLst/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663440" y="45720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26-50   LOW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12280" y="4572000"/>
            <a:ext cx="1920240" cy="34747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812280" y="45720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0-25    SAFE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01168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1005840" y="137160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Health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6400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D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C8D3"/>
                </a:solidFill>
                <a:latin typeface="Calibri"/>
                <a:ea typeface="Calibri"/>
                <a:cs typeface="Calibri"/>
                <a:sym typeface="Calibri"/>
              </a:rPr>
              <a:t>Beyond compliance — understand your financial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274320" y="1234440"/>
            <a:ext cx="4114800" cy="1664208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764792"/>
            <a:ext cx="594360" cy="59436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792224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1234440" y="1362456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Revenue Trends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34440" y="17830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revenue, average transaction value, and rising/falling trend detection across your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09160" y="1234440"/>
            <a:ext cx="4114800" cy="1664208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892040" y="1764792"/>
            <a:ext cx="594360" cy="59436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1792224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5669280" y="1362456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Cash Flow Risk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669280" y="17830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Volatility scoring with Low/Medium/High risk level plus AI-generated predictions and recommendations.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74320" y="3081528"/>
            <a:ext cx="4114800" cy="1664100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3611880"/>
            <a:ext cx="594300" cy="594300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63931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1234440" y="3209544"/>
            <a:ext cx="297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Supplier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34440" y="3630168"/>
            <a:ext cx="297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Top suppliers ranked by spend, transaction count, and reliability score based on payment patterns.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09160" y="3081528"/>
            <a:ext cx="4114800" cy="1664100"/>
          </a:xfrm>
          <a:prstGeom prst="rect">
            <a:avLst/>
          </a:prstGeom>
          <a:solidFill>
            <a:srgbClr val="F0F7F9"/>
          </a:solidFill>
          <a:ln cap="flat" cmpd="sng" w="12700">
            <a:solidFill>
              <a:srgbClr val="D8EE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892040" y="3611880"/>
            <a:ext cx="594300" cy="594300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363931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5669280" y="3209544"/>
            <a:ext cx="297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Buisness Health Score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669280" y="3630168"/>
            <a:ext cx="297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Calculates out of 100 how good or bad your transaction have been.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01168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1005840" y="164592"/>
            <a:ext cx="7772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It's For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74320" y="11887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4320" y="1188720"/>
            <a:ext cx="411480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1755648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1143000" y="1316736"/>
            <a:ext cx="777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143000" y="131673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43000" y="1609344"/>
            <a:ext cx="3090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Compliance &amp; AML 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43000" y="2011680"/>
            <a:ext cx="3090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Banks, fintechs &amp; payment processors legally required to monitor for money laundering, structuring, and SAR-level events.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709160" y="1188720"/>
            <a:ext cx="411480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3752" y="1755648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5577840" y="1316736"/>
            <a:ext cx="777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577840" y="131673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77840" y="1609344"/>
            <a:ext cx="3090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Accountants &amp; Bookkeepers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577840" y="2011680"/>
            <a:ext cx="309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Firms reviewing client transaction data before reconciliation or audit — faster than manual triage, no enterprise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74320" y="3090672"/>
            <a:ext cx="4114800" cy="1737300"/>
          </a:xfrm>
          <a:prstGeom prst="rect">
            <a:avLst/>
          </a:prstGeom>
          <a:solidFill>
            <a:srgbClr val="EDF6F8"/>
          </a:solidFill>
          <a:ln cap="flat" cmpd="sng" w="12700">
            <a:solidFill>
              <a:srgbClr val="D4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" y="3657600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1143000" y="3218688"/>
            <a:ext cx="960000" cy="2559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143000" y="3218688"/>
            <a:ext cx="960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43000" y="3511296"/>
            <a:ext cx="309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Fraud Analysts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143000" y="3913632"/>
            <a:ext cx="309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E-commerce &amp; SaaS teams monitoring for duplicate transactions, velocity abuse, and unusual geographic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709160" y="3090672"/>
            <a:ext cx="4114800" cy="1737300"/>
          </a:xfrm>
          <a:prstGeom prst="rect">
            <a:avLst/>
          </a:prstGeom>
          <a:solidFill>
            <a:srgbClr val="EDF6F8"/>
          </a:solidFill>
          <a:ln cap="flat" cmpd="sng" w="12700">
            <a:solidFill>
              <a:srgbClr val="D4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3752" y="3657600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5577840" y="3218688"/>
            <a:ext cx="960000" cy="2559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577840" y="3218688"/>
            <a:ext cx="960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577840" y="3511296"/>
            <a:ext cx="309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Internal Audit 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577840" y="3913632"/>
            <a:ext cx="309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Mid-size companies screening AP/AR data without committing to full Chainalysis or Actimize deployments.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D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D3"/>
                </a:solidFill>
                <a:latin typeface="Calibri"/>
                <a:ea typeface="Calibri"/>
                <a:cs typeface="Calibri"/>
                <a:sym typeface="Calibri"/>
              </a:rPr>
              <a:t>The compliance technology gap is widening — and the costs of inaction are escalating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0040" y="1417320"/>
            <a:ext cx="4023360" cy="1536192"/>
          </a:xfrm>
          <a:prstGeom prst="rect">
            <a:avLst/>
          </a:prstGeom>
          <a:solidFill>
            <a:srgbClr val="15274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20040" y="1417320"/>
            <a:ext cx="4023360" cy="640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48640" y="1581912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$10.9B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225856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CDB"/>
                </a:solidFill>
                <a:latin typeface="Calibri"/>
                <a:ea typeface="Calibri"/>
                <a:cs typeface="Calibri"/>
                <a:sym typeface="Calibri"/>
              </a:rPr>
              <a:t>Global AML fines issued in 2023 alone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54880" y="1417320"/>
            <a:ext cx="4023360" cy="1536192"/>
          </a:xfrm>
          <a:prstGeom prst="rect">
            <a:avLst/>
          </a:prstGeom>
          <a:solidFill>
            <a:srgbClr val="15274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754880" y="1417320"/>
            <a:ext cx="4023360" cy="640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983480" y="1581912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983480" y="225856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CDB"/>
                </a:solidFill>
                <a:latin typeface="Calibri"/>
                <a:ea typeface="Calibri"/>
                <a:cs typeface="Calibri"/>
                <a:sym typeface="Calibri"/>
              </a:rPr>
              <a:t>Detection rules running in parallel on every transaction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0040" y="3136392"/>
            <a:ext cx="4023360" cy="1536192"/>
          </a:xfrm>
          <a:prstGeom prst="rect">
            <a:avLst/>
          </a:prstGeom>
          <a:solidFill>
            <a:srgbClr val="15274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320040" y="3136392"/>
            <a:ext cx="4023360" cy="640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48640" y="3300984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&lt; 1 sec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39776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CDB"/>
                </a:solidFill>
                <a:latin typeface="Calibri"/>
                <a:ea typeface="Calibri"/>
                <a:cs typeface="Calibri"/>
                <a:sym typeface="Calibri"/>
              </a:rPr>
              <a:t>Time to score an entire CSV batch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54880" y="3136392"/>
            <a:ext cx="4023360" cy="1536192"/>
          </a:xfrm>
          <a:prstGeom prst="rect">
            <a:avLst/>
          </a:prstGeom>
          <a:solidFill>
            <a:srgbClr val="15274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754880" y="3136392"/>
            <a:ext cx="4023360" cy="640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983480" y="3300984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50 MB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983480" y="39776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CD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CDB"/>
                </a:solidFill>
                <a:latin typeface="Calibri"/>
                <a:ea typeface="Calibri"/>
                <a:cs typeface="Calibri"/>
                <a:sym typeface="Calibri"/>
              </a:rPr>
              <a:t>Max file size — thousands of rows at 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F1F3D">
              <a:alpha val="20000"/>
            </a:srgbClr>
          </a:solidFill>
          <a:ln cap="flat" cmpd="sng" w="12700">
            <a:solidFill>
              <a:srgbClr val="0F1F3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6858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Scanning in Minutes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8EDEF"/>
                </a:solidFill>
                <a:latin typeface="Calibri"/>
                <a:ea typeface="Calibri"/>
                <a:cs typeface="Calibri"/>
                <a:sym typeface="Calibri"/>
              </a:rPr>
              <a:t>Upload a CSV. Get instant risk scores, business health metrics,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8EDEF"/>
                </a:solidFill>
                <a:latin typeface="Calibri"/>
                <a:ea typeface="Calibri"/>
                <a:cs typeface="Calibri"/>
                <a:sym typeface="Calibri"/>
              </a:rPr>
              <a:t>and actionable compliance insights — no setup required.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200400" y="3337560"/>
            <a:ext cx="2743200" cy="64008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200400" y="3337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TransactScan  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8840" y="4187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1645920" y="460857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D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EDEF"/>
                </a:solidFill>
                <a:latin typeface="Calibri"/>
                <a:ea typeface="Calibri"/>
                <a:cs typeface="Calibri"/>
                <a:sym typeface="Calibri"/>
              </a:rPr>
              <a:t>No setup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4187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3931920" y="460857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D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EDEF"/>
                </a:solidFill>
                <a:latin typeface="Calibri"/>
                <a:ea typeface="Calibri"/>
                <a:cs typeface="Calibri"/>
                <a:sym typeface="Calibri"/>
              </a:rPr>
              <a:t>CSV drag &amp; drop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4187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6217920" y="460857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D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EDEF"/>
                </a:solidFill>
                <a:latin typeface="Calibri"/>
                <a:ea typeface="Calibri"/>
                <a:cs typeface="Calibri"/>
                <a:sym typeface="Calibri"/>
              </a:rPr>
              <a:t>14 detection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